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69" y="1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36576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C89B3C"/>
                </a:solidFill>
                <a:latin typeface="Calibri"/>
                <a:ea typeface="Calibri"/>
              </a:rPr>
              <a:t>COURSE DESIGN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CBD5E1"/>
                </a:solidFill>
                <a:latin typeface="微软雅黑"/>
                <a:ea typeface="微软雅黑"/>
              </a:rPr>
              <a:t>课程设计答辩  ·  2026.06.22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基于 Java 的手写体收集和管理系统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C89B3C"/>
                </a:solidFill>
                <a:latin typeface="Calibri"/>
                <a:ea typeface="Calibri"/>
              </a:rPr>
              <a:t>A Handwriting Collection &amp; Management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BD5E1"/>
                </a:solidFill>
                <a:latin typeface="Calibri"/>
                <a:ea typeface="Calibri"/>
              </a:rPr>
              <a:t>Spring Boot 3  ·  Vue 3  ·  MyBatis-Plus  ·  MinIO  ·  JWT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228600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本次答辩的内容导览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89B3C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项目背景与目标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Background &amp; Goals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286000"/>
            <a:ext cx="18288" cy="4572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89B3C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402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技术选型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60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Technology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89B3C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71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系统架构设计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System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017520"/>
            <a:ext cx="18288" cy="4572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29260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89B3C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71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关键技术实现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918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Key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89B3C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7033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工程化与部署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0233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Engineering &amp;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49040"/>
            <a:ext cx="18288" cy="4572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365760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89B3C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033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测试与质量保证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0233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Testing &amp; 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38912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89B3C"/>
                </a:solidFill>
                <a:latin typeface="Calibri"/>
                <a:ea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4348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亮点总结与展望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7548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Highlights &amp; Outlook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4480560"/>
            <a:ext cx="18288" cy="4572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91440" cy="1828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C89B3C"/>
                </a:solidFill>
                <a:latin typeface="Calibri"/>
                <a:ea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项目背景与目标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BD5E1"/>
                </a:solidFill>
                <a:latin typeface="Calibri"/>
                <a:ea typeface="Calibri"/>
              </a:rPr>
              <a:t>Background &amp; Goals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01  ·  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项目背景与目标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Background &amp;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E3A5F"/>
                </a:solidFill>
                <a:latin typeface="微软雅黑"/>
                <a:ea typeface="微软雅黑"/>
              </a:rPr>
              <a:t>项目定位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260604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面向中文手写体研究的样本采集与审核管理平台，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为字体设计师、AI 手写识别研究者提供高质量的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「在线书写 → 元数据采集 → 审核归档 → 数据可视化」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完整工程化解决方案。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E3A5F"/>
                </a:solidFill>
                <a:latin typeface="微软雅黑"/>
                <a:ea typeface="微软雅黑"/>
              </a:rPr>
              <a:t>核心目标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46888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260604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72491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C89B3C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651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E3A5F"/>
                </a:solidFill>
                <a:latin typeface="微软雅黑"/>
                <a:ea typeface="微软雅黑"/>
              </a:rPr>
              <a:t>用户体系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6974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JWT + RBAC 注册登录与权限隔离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4612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36499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C89B3C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291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E3A5F"/>
                </a:solidFill>
                <a:latin typeface="微软雅黑"/>
                <a:ea typeface="微软雅黑"/>
              </a:rPr>
              <a:t>样本采集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3375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Canvas 手写板 + 文件直传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8620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00507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C89B3C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931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E3A5F"/>
                </a:solidFill>
                <a:latin typeface="微软雅黑"/>
                <a:ea typeface="微软雅黑"/>
              </a:rPr>
              <a:t>审核工作流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9776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通过 / 驳回 + 审计日志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52628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64515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C89B3C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572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E3A5F"/>
                </a:solidFill>
                <a:latin typeface="微软雅黑"/>
                <a:ea typeface="微软雅黑"/>
              </a:rPr>
              <a:t>数据可视化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617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趋势 / 状态 / 字典进度 / 贡献排行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E3A5F"/>
                </a:solidFill>
                <a:latin typeface="微软雅黑"/>
                <a:ea typeface="微软雅黑"/>
              </a:rPr>
              <a:t>四大核心业务场景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3776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57200" y="51206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7150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3A5F"/>
                </a:solidFill>
                <a:latin typeface="微软雅黑"/>
                <a:ea typeface="微软雅黑"/>
              </a:rPr>
              <a:t>在线书写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035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Canvas + 压感笔锋还原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51206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74720" y="57150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3A5F"/>
                </a:solidFill>
                <a:latin typeface="微软雅黑"/>
                <a:ea typeface="微软雅黑"/>
              </a:rPr>
              <a:t>字典管理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6035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字符字典增删改 + 批量导入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51206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0" y="57150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3A5F"/>
                </a:solidFill>
                <a:latin typeface="微软雅黑"/>
                <a:ea typeface="微软雅黑"/>
              </a:rPr>
              <a:t>审核归档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6035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审核员工作流 + 审计日志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1120" y="51206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0" y="57150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3A5F"/>
                </a:solidFill>
                <a:latin typeface="微软雅黑"/>
                <a:ea typeface="微软雅黑"/>
              </a:rPr>
              <a:t>数据洞察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6035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ECharts 多维可视化大屏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91440" cy="1828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C89B3C"/>
                </a:solidFill>
                <a:latin typeface="Calibri"/>
                <a:ea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技术选型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BD5E1"/>
                </a:solidFill>
                <a:latin typeface="Calibri"/>
                <a:ea typeface="Calibri"/>
              </a:rPr>
              <a:t>Technology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02  ·  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技术选型 · 后端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Backend Tech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89B3C"/>
                </a:solidFill>
                <a:latin typeface="微软雅黑"/>
                <a:ea typeface="微软雅黑"/>
              </a:rPr>
              <a:t>核心框架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274320" cy="27432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Calibri"/>
              </a:rPr>
              <a:t>JDK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880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2937"/>
                </a:solidFill>
                <a:latin typeface="微软雅黑"/>
                <a:ea typeface="微软雅黑"/>
              </a:rPr>
              <a:t>Eclipse Temurin 17 (LTS)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7296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Calibri"/>
              </a:rPr>
              <a:t>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17296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2937"/>
                </a:solidFill>
                <a:latin typeface="微软雅黑"/>
                <a:ea typeface="微软雅黑"/>
              </a:rPr>
              <a:t>Spring Boot 3.2.5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655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Calibri"/>
              </a:rPr>
              <a:t>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46557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2937"/>
                </a:solidFill>
                <a:latin typeface="微软雅黑"/>
                <a:ea typeface="微软雅黑"/>
              </a:rPr>
              <a:t>Spring Data JPA + MyBatis-Plus 3.5.5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581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Calibri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75818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2937"/>
                </a:solidFill>
                <a:latin typeface="微软雅黑"/>
                <a:ea typeface="微软雅黑"/>
              </a:rPr>
              <a:t>MySQL 8.0+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5079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Calibri"/>
              </a:rPr>
              <a:t>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0507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2937"/>
                </a:solidFill>
                <a:latin typeface="微软雅黑"/>
                <a:ea typeface="微软雅黑"/>
              </a:rPr>
              <a:t>Spring Data Redis (Lettuce) 7.x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Calibri"/>
              </a:rP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343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2937"/>
                </a:solidFill>
                <a:latin typeface="微软雅黑"/>
                <a:ea typeface="微软雅黑"/>
              </a:rPr>
              <a:t>Spring Security 6 + JJWT 0.12.5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3600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Calibri"/>
              </a:rPr>
              <a:t>Object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636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2937"/>
                </a:solidFill>
                <a:latin typeface="微软雅黑"/>
                <a:ea typeface="微软雅黑"/>
              </a:rPr>
              <a:t>MinIO 8.5 / Azure Blob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2861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Calibri"/>
              </a:rPr>
              <a:t>API Doc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92861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2937"/>
                </a:solidFill>
                <a:latin typeface="微软雅黑"/>
                <a:ea typeface="微软雅黑"/>
              </a:rPr>
              <a:t>springdoc-openapi 2.5.0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2122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Calibri"/>
              </a:rPr>
              <a:t>DB Migration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221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2937"/>
                </a:solidFill>
                <a:latin typeface="微软雅黑"/>
                <a:ea typeface="微软雅黑"/>
              </a:rPr>
              <a:t>Flyway 9.22.3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1383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Calibri"/>
              </a:rPr>
              <a:t>Utilities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5138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2937"/>
                </a:solidFill>
                <a:latin typeface="微软雅黑"/>
                <a:ea typeface="微软雅黑"/>
              </a:rPr>
              <a:t>Lombok · MapStruct · Hutool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064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Calibri"/>
                <a:ea typeface="Calibri"/>
              </a:rPr>
              <a:t>Monitor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58064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2937"/>
                </a:solidFill>
                <a:latin typeface="微软雅黑"/>
                <a:ea typeface="微软雅黑"/>
              </a:rPr>
              <a:t>Actuator + Micrometer Prometheus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103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E3A5F"/>
                </a:solidFill>
                <a:latin typeface="微软雅黑"/>
                <a:ea typeface="微软雅黑"/>
              </a:rPr>
              <a:t>关键选型理由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46888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274320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2606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Spring Boot 3 + Java 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89864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需求指定；生态成熟，自动装配开箱即用，长期 LTS 支持。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493008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3355848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JPA + MyBatis-Plus 双栈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648456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JPA 写实体清晰；MP 写复杂聚合 SQL 灵活。模块边界隔离。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242816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410565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MySQL 8.0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398264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原生 JSON、窗口函数、CTE 表达力强；按 user_id 分区。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992624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4855464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MinIO（S3 兼容）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148072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一套 API 同时支持 MinIO / OSS / S3，迁移云端零改造。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5742432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560527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Flyway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8978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数据库结构版本化，DDL 集中管理、可回滚、可审计。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02  ·  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技术选型 · 前端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Frontend Tech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3A5F"/>
                </a:solidFill>
                <a:latin typeface="微软雅黑"/>
                <a:ea typeface="微软雅黑"/>
              </a:rPr>
              <a:t>框架与构建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432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5.4.5 · 类型化开发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Vue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3.4.27 · Composition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Vite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5.2.11 · 冷启动 / HMR 极快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Pinia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2.1.7 · 替代 Vuex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48640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Vue Router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4.3.2 · 官方路由方案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21031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2240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3A5F"/>
                </a:solidFill>
                <a:latin typeface="微软雅黑"/>
                <a:ea typeface="微软雅黑"/>
              </a:rPr>
              <a:t>UI 与交互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606040"/>
            <a:ext cx="27432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0" y="292608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278892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Element Plus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06324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2.7.0 · 中后台组件库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56616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0" y="342900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Axios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70332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1.6.8 · 拦截器统一处理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20624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0" y="40690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ECharts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34340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5.5.0 · 统计图表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484632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0" y="47091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vue-i18n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9834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9.13.1 · 中英文国际化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548640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0" y="534924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VueUse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56235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10.11 · Composition 工具集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21031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12480" y="2240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3A5F"/>
                </a:solidFill>
                <a:latin typeface="微软雅黑"/>
                <a:ea typeface="微软雅黑"/>
              </a:rPr>
              <a:t>手写与工程化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2606040"/>
            <a:ext cx="27432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412480" y="292608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278892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perfect-freehand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306324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1.2.2 · 笔锋还原核心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356616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95360" y="342900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signature_pad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5.0.4 · 触摸轨迹采集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420624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0690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ESLint + Prettier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434340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代码规范统一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84632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95360" y="47091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Vitest + Playwright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98348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单元 + E2E 测试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5486400"/>
            <a:ext cx="54864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4924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2937"/>
                </a:solidFill>
                <a:latin typeface="微软雅黑"/>
                <a:ea typeface="微软雅黑"/>
              </a:rPr>
              <a:t>Husky + Commitlint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95360" y="56235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Git 钩子自动化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91440" cy="1828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C89B3C"/>
                </a:solidFill>
                <a:latin typeface="Calibri"/>
                <a:ea typeface="Calibr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系统架构设计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BD5E1"/>
                </a:solidFill>
                <a:latin typeface="Calibri"/>
                <a:ea typeface="Calibri"/>
              </a:rPr>
              <a:t>System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03  · 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系统架构总览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Overall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客户端层   ·   Vue 3 + Vite + TypeScript + Element Plus + Pinia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89B3C"/>
                </a:solidFill>
                <a:latin typeface="Calibri"/>
                <a:ea typeface="Calibri"/>
              </a:rPr>
              <a:t>↓   HTTPS / JSON   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1E3A5F"/>
                </a:solidFill>
                <a:latin typeface="微软雅黑"/>
                <a:ea typeface="微软雅黑"/>
              </a:rPr>
              <a:t>服务层   ·   Spring Boot 3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Controller  →  Service  →  Repository     |     JWT 鉴权 · 全局异常 · OpenAPI 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C89B3C"/>
                </a:solidFill>
                <a:latin typeface="Calibri"/>
                <a:ea typeface="Calibr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MySQL 8.0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主数据库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事务 / 索引 / 分区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5720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4754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Redis 7.x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16636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缓存 / Token / 限流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Session / 分布式锁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5720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06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4754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MinIO / Azure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16636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对象存储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S3 兼容 · 文件直传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前后端分离 · 容器化编排 · 多对象存储 Provider 适配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03  · 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后端分层架构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Backend Layered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5943600" cy="7772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</a:rPr>
              <a:t>com.example.handwriting.api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Controller 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317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参数接收 · 统一返回 R&lt;T&gt; · 异常包装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71800"/>
            <a:ext cx="5943600" cy="777240"/>
          </a:xfrm>
          <a:prstGeom prst="roundRect">
            <a:avLst>
              <a:gd name="adj" fmla="val 8000"/>
            </a:avLst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</a:rPr>
              <a:t>com.example.handwriting.application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Service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2004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业务用例编排 · 事务控制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5943600" cy="777240"/>
          </a:xfrm>
          <a:prstGeom prst="roundRect">
            <a:avLst>
              <a:gd name="adj" fmla="val 8000"/>
            </a:avLst>
          </a:prstGeom>
          <a:solidFill>
            <a:srgbClr val="3D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</a:rPr>
              <a:t>com.example.handwriting.domain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Domain 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0690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实体 / 值对象 / 领域服务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09160"/>
            <a:ext cx="5943600" cy="777240"/>
          </a:xfrm>
          <a:prstGeom prst="roundRect">
            <a:avLst>
              <a:gd name="adj" fmla="val 8000"/>
            </a:avLst>
          </a:prstGeom>
          <a:solidFill>
            <a:srgbClr val="4D8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8006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</a:rPr>
              <a:t>com.example.handwriting.infrastructure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Infrastructure 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9377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持久化 · 缓存 · 对象存储 · MQ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577840"/>
            <a:ext cx="5943600" cy="777240"/>
          </a:xfrm>
          <a:prstGeom prst="roundRect">
            <a:avLst>
              <a:gd name="adj" fmla="val 8000"/>
            </a:avLst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669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</a:rPr>
              <a:t>com.example.handwriting.common / config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978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公共 &amp; 配置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8064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统一响应 · 错误码 · Security · OpenAPI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103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依赖方向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246888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0" y="2651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Calibri"/>
                <a:ea typeface="Calibri"/>
              </a:rPr>
              <a:t>api  →  application  →  domain  ←  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设计原则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56616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0" y="3886199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86600" y="374903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E3A5F"/>
                </a:solidFill>
                <a:latin typeface="微软雅黑"/>
                <a:ea typeface="微软雅黑"/>
              </a:rPr>
              <a:t>单向依赖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005071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上层依赖下层，下层不感知上层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480559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86600" y="434339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E3A5F"/>
                </a:solidFill>
                <a:latin typeface="微软雅黑"/>
                <a:ea typeface="微软雅黑"/>
              </a:rPr>
              <a:t>接口隔离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599431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Controller 只依赖 Service 接口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5074919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86600" y="493775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E3A5F"/>
                </a:solidFill>
                <a:latin typeface="微软雅黑"/>
                <a:ea typeface="微软雅黑"/>
              </a:rPr>
              <a:t>统一规约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93791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R&lt;T&gt; 统一返回 / BizException 全局异常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5669279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86600" y="553211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E3A5F"/>
                </a:solidFill>
                <a:latin typeface="微软雅黑"/>
                <a:ea typeface="微软雅黑"/>
              </a:rPr>
              <a:t>配置外置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788151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全部走 application.yml + 环境变量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03  · 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前端模块化设计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Frontend Modular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1E3A5F"/>
                </a:solidFill>
                <a:latin typeface="微软雅黑"/>
                <a:ea typeface="微软雅黑"/>
              </a:rPr>
              <a:t>数据流：View  →  Pinia Action  →  API (Axios)  →  后端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</a:rPr>
              <a:t>api/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89B3C"/>
                </a:solidFill>
                <a:latin typeface="微软雅黑"/>
                <a:ea typeface="微软雅黑"/>
              </a:rPr>
              <a:t>接口层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按业务域聚合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axios 请求封装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83464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2926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</a:rPr>
              <a:t>stores/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918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89B3C"/>
                </a:solidFill>
                <a:latin typeface="微软雅黑"/>
                <a:ea typeface="微软雅黑"/>
              </a:rPr>
              <a:t>状态层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749039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Pinia 状态管理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user/sample/audit/dict/app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83464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3D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2926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</a:rPr>
              <a:t>views/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918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89B3C"/>
                </a:solidFill>
                <a:latin typeface="微软雅黑"/>
                <a:ea typeface="微软雅黑"/>
              </a:rPr>
              <a:t>视图层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749039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portal / auth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sample / 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83464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4D8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2926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</a:rPr>
              <a:t>composables/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918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89B3C"/>
                </a:solidFill>
                <a:latin typeface="微软雅黑"/>
                <a:ea typeface="微软雅黑"/>
              </a:rPr>
              <a:t>组合式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749039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useAuth / useHandwriting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useUpload / usePermission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E3A5F"/>
                </a:solidFill>
                <a:latin typeface="微软雅黑"/>
                <a:ea typeface="微软雅黑"/>
              </a:rPr>
              <a:t>辅助模块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0352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7200" y="5486400"/>
            <a:ext cx="2651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5321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Calibri"/>
                <a:ea typeface="Calibri"/>
              </a:rPr>
              <a:t>components/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55955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通用组件 (base/business)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5486400"/>
            <a:ext cx="2651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29000" y="55321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Calibri"/>
                <a:ea typeface="Calibri"/>
              </a:rPr>
              <a:t>layouts/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55955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布局 (Default/Admin/Blank)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5486400"/>
            <a:ext cx="2651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55321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Calibri"/>
                <a:ea typeface="Calibri"/>
              </a:rPr>
              <a:t>router/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55955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Vue Router + 守卫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5486400"/>
            <a:ext cx="2651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98280" y="55321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Calibri"/>
                <a:ea typeface="Calibri"/>
              </a:rPr>
              <a:t>directives/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555955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自定义指令 (v-permission)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89320"/>
            <a:ext cx="2651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6035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Calibri"/>
                <a:ea typeface="Calibri"/>
              </a:rPr>
              <a:t>utils/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606247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request / storage / format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40" y="5989320"/>
            <a:ext cx="2651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29000" y="6035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Calibri"/>
                <a:ea typeface="Calibri"/>
              </a:rPr>
              <a:t>styles/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06247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SCSS 变量 + 墨韵主题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5989320"/>
            <a:ext cx="2651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63640" y="6035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Calibri"/>
                <a:ea typeface="Calibri"/>
              </a:rPr>
              <a:t>locales/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606247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i18n 中英文文案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61120" y="5989320"/>
            <a:ext cx="2651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98280" y="6035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Calibri"/>
                <a:ea typeface="Calibri"/>
              </a:rPr>
              <a:t>types/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606247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TypeScript 类型声明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91440" cy="1828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C89B3C"/>
                </a:solidFill>
                <a:latin typeface="Calibri"/>
                <a:ea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关键技术实现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BD5E1"/>
                </a:solidFill>
                <a:latin typeface="Calibri"/>
                <a:ea typeface="Calibri"/>
              </a:rPr>
              <a:t>Key Implementation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04  ·  关键技术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关键技术 ① 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JWT 无状态鉴权 + 双 Token 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双 Token 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E3A5F"/>
                </a:solidFill>
                <a:latin typeface="Calibri"/>
                <a:ea typeface="Calibri"/>
              </a:rPr>
              <a:t>Access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788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微软雅黑"/>
                <a:ea typeface="微软雅黑"/>
              </a:rPr>
              <a:t>TTL：1 小时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· 承载用户身份与角色信息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· 通过 Authorization: Bearer 头传递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· 服务端无状态校验，无需 Session 共享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E3A5F"/>
                </a:solidFill>
                <a:latin typeface="Calibri"/>
                <a:ea typeface="Calibri"/>
              </a:rPr>
              <a:t>Refresh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2519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微软雅黑"/>
                <a:ea typeface="微软雅黑"/>
              </a:rPr>
              <a:t>TTL：7 天 · 一次性使用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· 一次性使用，使用后立即轮换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· 登出 / 改密时写入 Redis 黑名单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· 实现「无状态 + 可吊销」双重目标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03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RBAC 权限模型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46888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17920" y="265176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7889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7432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普通用户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EF3C7"/>
                </a:solidFill>
                <a:latin typeface="微软雅黑"/>
                <a:ea typeface="微软雅黑"/>
              </a:rPr>
              <a:t>书写上传 · 查看样本 · 个人中心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56616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D973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7033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AUDITOR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657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审核员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776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EF3C7"/>
                </a:solidFill>
                <a:latin typeface="微软雅黑"/>
                <a:ea typeface="微软雅黑"/>
              </a:rPr>
              <a:t>审核工作流 · 审计日志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48056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6177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5720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管理员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920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EF3C7"/>
                </a:solidFill>
                <a:latin typeface="微软雅黑"/>
                <a:ea typeface="微软雅黑"/>
              </a:rPr>
              <a:t>用户管理 · 字典管理 · 系统配置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E3A5F"/>
                </a:solidFill>
                <a:latin typeface="微软雅黑"/>
                <a:ea typeface="微软雅黑"/>
              </a:rPr>
              <a:t>实现亮点：相比传统 Session 方案，JWT + Refresh 让后端真正无状态，水平扩展友好；通过 Redis 黑名单兼顾安全性。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6080760"/>
            <a:ext cx="393192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04  ·  关键技术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关键技术 ② 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持久层双栈：JPA + MyBatis-Plus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73152" cy="21031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</a:rPr>
              <a:t>JPA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331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Spring Data JPA · 单表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✓  Repository 模式，方法命名即查询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✓  实体建模清晰，与数据库结构自动映射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✓  启动时 ddl-auto=validate 校验表结构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✓  适用：User / Sample / CharDict 等标准实体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73152" cy="21031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C89B3C"/>
                </a:solidFill>
                <a:latin typeface="Calibri"/>
                <a:ea typeface="Calibri"/>
              </a:rPr>
              <a:t>MyBatis-Plus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974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3.5.5 · 复杂 SQL 与聚合查询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✓  Lambda Wrapper 灵活拼装 SQL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✓  支持复杂联表、聚合、分组、统计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✓  内置分页插件、逻辑删除、审计字段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✓  适用：Dashboard 统计 / 趋势 / TOP 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194560"/>
            <a:ext cx="45720" cy="1920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共存策略：模块边界隔离，绝不混用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200" y="516636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5349240"/>
            <a:ext cx="91440" cy="1828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实体类用 JPA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2120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@Entity 标注，由 JPA 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16636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5349240"/>
            <a:ext cx="91440" cy="1828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212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自定义查询走 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2120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Mapper + Lambda Wrapper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0644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989320"/>
            <a:ext cx="91440" cy="1828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8521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事务统一管理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5852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@Transactional 加在 Service 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80644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5989320"/>
            <a:ext cx="91440" cy="1828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58521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绝不交叉依赖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8521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Repository 不调用 Mapper，反之亦然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04  ·  关键技术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关键技术 ③ 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文件直传 + 多对象存储 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文件直传流程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97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客户端请求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GET /v1/file/sign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获取 OSS 预签名 URL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200400"/>
            <a:ext cx="54864" cy="2743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661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客户端直传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862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PUT 文件到 MinIO/S3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不经过后端中转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069080"/>
            <a:ext cx="54864" cy="2743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457200" cy="4572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5262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348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元数据提交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7548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POST /v1/sample/upload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fileKey · charId · sha256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937760"/>
            <a:ext cx="54864" cy="2743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5349240"/>
            <a:ext cx="457200" cy="4572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3949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03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服务端校验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6235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HeadObject 校验文件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落库 + MQ 异步任务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103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多 Provider 适配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46888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17920" y="265176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</a:rPr>
              <a:t>Local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063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EF3C7"/>
                </a:solidFill>
                <a:latin typeface="微软雅黑"/>
                <a:ea typeface="微软雅黑"/>
              </a:rPr>
              <a:t>本地文件系统（开发）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265176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C7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89720" y="27432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</a:rPr>
              <a:t>MinIO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063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EF3C7"/>
                </a:solidFill>
                <a:latin typeface="微软雅黑"/>
                <a:ea typeface="微软雅黑"/>
              </a:rPr>
              <a:t>S3 兼容（自建）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52044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D973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36118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</a:rPr>
              <a:t>S3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931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EF3C7"/>
                </a:solidFill>
                <a:latin typeface="微软雅黑"/>
                <a:ea typeface="微软雅黑"/>
              </a:rPr>
              <a:t>AWS S3（云端）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06840" y="352044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056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89720" y="36118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</a:rPr>
              <a:t>Azure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3931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EF3C7"/>
                </a:solidFill>
                <a:latin typeface="微软雅黑"/>
                <a:ea typeface="微软雅黑"/>
              </a:rPr>
              <a:t>Azure Blob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480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E3A5F"/>
                </a:solidFill>
                <a:latin typeface="微软雅黑"/>
                <a:ea typeface="微软雅黑"/>
              </a:rPr>
              <a:t>分桶策略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84632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0" y="50292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Calibri"/>
                <a:ea typeface="Calibri"/>
              </a:rPr>
              <a:t>handwriting-collect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02920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微软雅黑"/>
                <a:ea typeface="微软雅黑"/>
              </a:rPr>
              <a:t>采集桶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50292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用户书写样本原图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3949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Calibri"/>
                <a:ea typeface="Calibri"/>
              </a:rPr>
              <a:t>handwriting-audit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539496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微软雅黑"/>
                <a:ea typeface="微软雅黑"/>
              </a:rPr>
              <a:t>审核桶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53949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审核员工作流附件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7607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Calibri"/>
                <a:ea typeface="Calibri"/>
              </a:rPr>
              <a:t>handwriting-backup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7607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微软雅黑"/>
                <a:ea typeface="微软雅黑"/>
              </a:rPr>
              <a:t>备份桶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57607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定期备份与归档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E3A5F"/>
                </a:solidFill>
                <a:latin typeface="微软雅黑"/>
                <a:ea typeface="微软雅黑"/>
              </a:rPr>
              <a:t>优势：解放后端带宽 · 降低服务器 IO · 支持大文件 · 断点续传友好 · 一套配置切换存储后端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04  ·  关键技术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关键技术 ④ 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手写板笔锋还原（核心亮点）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核心技术栈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685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E3A5F"/>
                </a:solidFill>
                <a:latin typeface="Calibri"/>
                <a:ea typeface="Calibri"/>
              </a:rPr>
              <a:t>perfect-freehand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443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C89B3C"/>
                </a:solidFill>
                <a:latin typeface="微软雅黑"/>
                <a:ea typeface="微软雅黑"/>
              </a:rPr>
              <a:t>变半径贝塞尔拟合算法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7889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基于压力 + 速度还原毛笔 / 钢笔笔锋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2900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429000"/>
            <a:ext cx="73152" cy="685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E3A5F"/>
                </a:solidFill>
                <a:latin typeface="Calibri"/>
                <a:ea typeface="Calibri"/>
              </a:rPr>
              <a:t>signature_pad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216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C89B3C"/>
                </a:solidFill>
                <a:latin typeface="微软雅黑"/>
                <a:ea typeface="微软雅黑"/>
              </a:rPr>
              <a:t>PointerEvent 三维数据采集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5661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x / y / pressure 实时采集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0624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73152" cy="685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E3A5F"/>
                </a:solidFill>
                <a:latin typeface="Calibri"/>
                <a:ea typeface="Calibri"/>
              </a:rPr>
              <a:t>Canvas DPR 适配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988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C89B3C"/>
                </a:solidFill>
                <a:latin typeface="微软雅黑"/>
                <a:ea typeface="微软雅黑"/>
              </a:rPr>
              <a:t>devicePixelRatio 适配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3434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高分辨率屏不模糊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8348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983480"/>
            <a:ext cx="73152" cy="6858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E3A5F"/>
                </a:solidFill>
                <a:latin typeface="Calibri"/>
                <a:ea typeface="Calibri"/>
              </a:rPr>
              <a:t>SVG 序列化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760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C89B3C"/>
                </a:solidFill>
                <a:latin typeface="微软雅黑"/>
                <a:ea typeface="微软雅黑"/>
              </a:rPr>
              <a:t>笔画先序列化再栅格化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1206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笔顺可还原、可二次编辑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103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E3A5F"/>
                </a:solidFill>
                <a:latin typeface="微软雅黑"/>
                <a:ea typeface="微软雅黑"/>
              </a:rPr>
              <a:t>功能特性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46888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17920" y="265176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89B3C"/>
                </a:solidFill>
                <a:latin typeface="微软雅黑"/>
                <a:ea typeface="微软雅黑"/>
              </a:rPr>
              <a:t>笔刷预设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200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钢笔 / 毛笔 / 铅笔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三套参数实时切换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40" y="265176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89720" y="28346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89B3C"/>
                </a:solidFill>
                <a:latin typeface="微软雅黑"/>
                <a:ea typeface="微软雅黑"/>
              </a:rPr>
              <a:t>撤销 / 重做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3200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基于命令模式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操作栈管理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9319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89B3C"/>
                </a:solidFill>
                <a:latin typeface="微软雅黑"/>
                <a:ea typeface="微软雅黑"/>
              </a:rPr>
              <a:t>压感事件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4805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支持 Apple Pencil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Wacom 等真实压感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6840" y="393192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89720" y="4114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89B3C"/>
                </a:solidFill>
                <a:latin typeface="微软雅黑"/>
                <a:ea typeface="微软雅黑"/>
              </a:rPr>
              <a:t>高清导出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4805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SVG 矢量 + PNG 位图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双格式输出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E3A5F"/>
                </a:solidFill>
                <a:latin typeface="微软雅黑"/>
                <a:ea typeface="微软雅黑"/>
              </a:rPr>
              <a:t>算法原理：PointerEvent.pressure  →  变半径拟合  →  贝塞尔曲线光栅化  →  Canvas / SVG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0" y="6263640"/>
            <a:ext cx="8503920" cy="27432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04  ·  关键技术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关键技术 ⑤⑥ 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Flyway 数据库迁移 &amp; 安全防护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3A5F"/>
                </a:solidFill>
                <a:latin typeface="微软雅黑"/>
                <a:ea typeface="微软雅黑"/>
              </a:rPr>
              <a:t>Flyway 数据库版本化迁移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54864" cy="4114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E3A5F"/>
                </a:solidFill>
                <a:latin typeface="Calibri"/>
                <a:ea typeface="Calibri"/>
              </a:rPr>
              <a:t>V1__init_schema.sql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2491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初始化核心表结构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5468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154680"/>
            <a:ext cx="54864" cy="4114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E3A5F"/>
                </a:solidFill>
                <a:latin typeface="Calibri"/>
                <a:ea typeface="Calibri"/>
              </a:rPr>
              <a:t>V2__seed_data.sql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2783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种子数据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5760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54864" cy="4114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E3A5F"/>
                </a:solidFill>
                <a:latin typeface="Calibri"/>
                <a:ea typeface="Calibri"/>
              </a:rPr>
              <a:t>V3__widen_tinyint_to_int.sql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7307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字段类型扩展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4864" cy="4114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206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E3A5F"/>
                </a:solidFill>
                <a:latin typeface="Calibri"/>
                <a:ea typeface="Calibri"/>
              </a:rPr>
              <a:t>V4__password_recovery.sql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23367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密码恢复相关表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6344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54864" cy="4114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7091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E3A5F"/>
                </a:solidFill>
                <a:latin typeface="Calibri"/>
                <a:ea typeface="Calibri"/>
              </a:rPr>
              <a:t>V5__align_recovery_column_types.sql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73659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字段对齐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微软雅黑"/>
                <a:ea typeface="微软雅黑"/>
              </a:rPr>
              <a:t>解决：开发 / 测试 / 生产环境数据库结构不一致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92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· 启动时按版本号顺序执行   · DDL 集中管理、可回滚、可审计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103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E3A5F"/>
                </a:solidFill>
                <a:latin typeface="微软雅黑"/>
                <a:ea typeface="微软雅黑"/>
              </a:rPr>
              <a:t>安全防护体系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46888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17920" y="265176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26974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图形验证码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72491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EF3C7"/>
                </a:solidFill>
                <a:latin typeface="微软雅黑"/>
                <a:ea typeface="微软雅黑"/>
              </a:rPr>
              <a:t>easy-captcha · Redis · TTL 5min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15468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D973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32004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接口限流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22783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EF3C7"/>
                </a:solidFill>
                <a:latin typeface="微软雅黑"/>
                <a:ea typeface="微软雅黑"/>
              </a:rPr>
              <a:t>Redis 令牌桶 · 20/min · 60/min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65760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056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37033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TOTP 二次验证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73075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EF3C7"/>
                </a:solidFill>
                <a:latin typeface="微软雅黑"/>
                <a:ea typeface="微软雅黑"/>
              </a:rPr>
              <a:t>ZXing 二维码 · RFC 6238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16052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42062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密保问题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23367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EF3C7"/>
                </a:solidFill>
                <a:latin typeface="微软雅黑"/>
                <a:ea typeface="微软雅黑"/>
              </a:rPr>
              <a:t>用户枚举防护 · 时间归一化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466344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0" y="4709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BCrypt 密码哈希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73659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EF3C7"/>
                </a:solidFill>
                <a:latin typeface="微软雅黑"/>
                <a:ea typeface="微软雅黑"/>
              </a:rPr>
              <a:t>strength=10 · 加盐存储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303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3A5F"/>
                </a:solidFill>
                <a:latin typeface="微软雅黑"/>
                <a:ea typeface="微软雅黑"/>
              </a:rPr>
              <a:t>纵深防御：密码强度 + 验证码 + 限流 + 二次验证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6692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· 抵御爆破 · 防用户枚举 · 关键操作二次确认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05  ·  工程化与部署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18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工程化与部署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Engineering &amp;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5486400" cy="16916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统一规约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27432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EF3C7"/>
                </a:solidFill>
                <a:latin typeface="微软雅黑"/>
                <a:ea typeface="微软雅黑"/>
              </a:rPr>
              <a:t>R&lt;T&gt; 统一返回 · BizException 全局异常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EF3C7"/>
                </a:solidFill>
                <a:latin typeface="微软雅黑"/>
                <a:ea typeface="微软雅黑"/>
              </a:rPr>
              <a:t>ErrorCode 错误码枚举 · CORS 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5486400" cy="1691640"/>
          </a:xfrm>
          <a:prstGeom prst="roundRect">
            <a:avLst>
              <a:gd name="adj" fmla="val 8000"/>
            </a:avLst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OpenAPI 契约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743200"/>
            <a:ext cx="27432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EF3C7"/>
                </a:solidFill>
                <a:latin typeface="微软雅黑"/>
                <a:ea typeface="微软雅黑"/>
              </a:rPr>
              <a:t>springdoc-openapi 自动生成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EF3C7"/>
                </a:solidFill>
                <a:latin typeface="微软雅黑"/>
                <a:ea typeface="微软雅黑"/>
              </a:rPr>
              <a:t>Swagger UI 在线调试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EF3C7"/>
                </a:solidFill>
                <a:latin typeface="微软雅黑"/>
                <a:ea typeface="微软雅黑"/>
              </a:rPr>
              <a:t>前后端契约式开发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5486400" cy="1691640"/>
          </a:xfrm>
          <a:prstGeom prst="roundRect">
            <a:avLst>
              <a:gd name="adj" fmla="val 8000"/>
            </a:avLst>
          </a:prstGeom>
          <a:solidFill>
            <a:srgbClr val="3D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Actuator 监控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27432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EF3C7"/>
                </a:solidFill>
                <a:latin typeface="微软雅黑"/>
                <a:ea typeface="微软雅黑"/>
              </a:rPr>
              <a:t>/actuator/health · /actuator/prometheus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EF3C7"/>
                </a:solidFill>
                <a:latin typeface="微软雅黑"/>
                <a:ea typeface="微软雅黑"/>
              </a:rPr>
              <a:t>JVM / HTTP / DB 指标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EF3C7"/>
                </a:solidFill>
                <a:latin typeface="微软雅黑"/>
                <a:ea typeface="微软雅黑"/>
              </a:rPr>
              <a:t>可对接 Prometheus + Grafana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486400" cy="1691640"/>
          </a:xfrm>
          <a:prstGeom prst="roundRect">
            <a:avLst>
              <a:gd name="adj" fmla="val 8000"/>
            </a:avLst>
          </a:prstGeom>
          <a:solidFill>
            <a:srgbClr val="4D8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114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代码规范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572000"/>
            <a:ext cx="27432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EF3C7"/>
                </a:solidFill>
                <a:latin typeface="微软雅黑"/>
                <a:ea typeface="微软雅黑"/>
              </a:rPr>
              <a:t>ESLint + Prettier + Stylelint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EF3C7"/>
                </a:solidFill>
                <a:latin typeface="微软雅黑"/>
                <a:ea typeface="微软雅黑"/>
              </a:rPr>
              <a:t>Husky + lint-staged 卡点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EF3C7"/>
                </a:solidFill>
                <a:latin typeface="微软雅黑"/>
                <a:ea typeface="微软雅黑"/>
              </a:rPr>
              <a:t>Commitlint 强制规范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容器化部署：Dockerfile 多阶段构建  ·  docker-compose 一键起 MySQL/Redis/MinIO/Client  ·  K8s Deployment YAML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C89B3C"/>
                </a:solidFill>
                <a:latin typeface="Calibri"/>
                <a:ea typeface="Calibri"/>
              </a:rPr>
              <a:t>docker compose -f deploy/docker-compose.yml --env-file .env up -d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06  ·  测试与质量保证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测试与质量保证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Testing &amp; Quality Assurance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3657600" cy="91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E3A5F"/>
                </a:solidFill>
                <a:latin typeface="微软雅黑"/>
                <a:ea typeface="微软雅黑"/>
              </a:rPr>
              <a:t>后端测试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微软雅黑"/>
                <a:ea typeface="微软雅黑"/>
              </a:rPr>
              <a:t>JUnit 5 + Mockito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42900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CharDict 解析单元测试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6908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批量导入业务测试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0916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Spring Security 集成测试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4924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Repository 边界用例覆盖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21031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2103120"/>
            <a:ext cx="3657600" cy="9144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22860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E3A5F"/>
                </a:solidFill>
                <a:latin typeface="微软雅黑"/>
                <a:ea typeface="微软雅黑"/>
              </a:rPr>
              <a:t>前端测试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7432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微软雅黑"/>
                <a:ea typeface="微软雅黑"/>
              </a:rPr>
              <a:t>Vitest + jsdom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10896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342900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0" y="3337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composables 单元测试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06908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3977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useHandwriting 手写逻辑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70916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46177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utils 工具函数全覆盖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534924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0" y="5257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storage / validator / format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21031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0" y="2103120"/>
            <a:ext cx="3657600" cy="91440"/>
          </a:xfrm>
          <a:prstGeom prst="rect">
            <a:avLst/>
          </a:prstGeom>
          <a:solidFill>
            <a:srgbClr val="3D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0" y="22860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E3A5F"/>
                </a:solidFill>
                <a:latin typeface="微软雅黑"/>
                <a:ea typeface="微软雅黑"/>
              </a:rPr>
              <a:t>E2E &amp; 联调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7432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微软雅黑"/>
                <a:ea typeface="微软雅黑"/>
              </a:rPr>
              <a:t>Playwright + Postman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3108960"/>
            <a:ext cx="365760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412480" y="342900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95360" y="3337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关键流程回归（登录/上传/审核）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406908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3977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跨浏览器 / 多端适配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70916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95360" y="46177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Postman 收录 60+ 用例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5349240"/>
            <a:ext cx="91440" cy="914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95360" y="5257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全链路接口联调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质量门禁：自动化测试 + Code Review + 提交前 Lint，确保核心模块稳定性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89B3C"/>
                </a:solidFill>
                <a:latin typeface="Calibri"/>
                <a:ea typeface="Calibri"/>
              </a:rPr>
              <a:t>PART 07  ·  亮点与展望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Calibri"/>
                <a:ea typeface="Calibri"/>
              </a:rPr>
              <a:t>HandWrite System  |  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E3A5F"/>
                </a:solidFill>
                <a:latin typeface="微软雅黑"/>
                <a:ea typeface="微软雅黑"/>
              </a:rPr>
              <a:t>亮点与难点总结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Highlights &amp; Key Challenges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C89B3C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860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JPA + MP 双栈共存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9748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EF3C7"/>
                </a:solidFill>
                <a:latin typeface="微软雅黑"/>
                <a:ea typeface="微软雅黑"/>
              </a:rPr>
              <a:t>通过模块边界隔离，兼顾开发效率与复杂查询表达力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C89B3C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2860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手写体笔锋还原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69748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EF3C7"/>
                </a:solidFill>
                <a:latin typeface="微软雅黑"/>
                <a:ea typeface="微软雅黑"/>
              </a:rPr>
              <a:t>perfect-freehand 变半径拟合，真实还原书写压感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2044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3D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C89B3C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033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多 Provider 对象存储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11480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EF3C7"/>
                </a:solidFill>
                <a:latin typeface="微软雅黑"/>
                <a:ea typeface="微软雅黑"/>
              </a:rPr>
              <a:t>MinIO / S3 / Azure / 本地 4 套实现，一套配置切换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2044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4D8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70332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C89B3C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7033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完备的安全体系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11480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EF3C7"/>
                </a:solidFill>
                <a:latin typeface="微软雅黑"/>
                <a:ea typeface="微软雅黑"/>
              </a:rPr>
              <a:t>JWT + Refresh + Redis 黑名单 + BCrypt + 验证码 + TOTP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93776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C89B3C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1206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工程化规范落地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53212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EF3C7"/>
                </a:solidFill>
                <a:latin typeface="微软雅黑"/>
                <a:ea typeface="微软雅黑"/>
              </a:rPr>
              <a:t>Flyway · OpenAPI 契约 · ESLint/Stylelint · Husky 自动化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93776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D973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512064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C89B3C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1206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可观测性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53212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EF3C7"/>
                </a:solidFill>
                <a:latin typeface="微软雅黑"/>
                <a:ea typeface="微软雅黑"/>
              </a:rPr>
              <a:t>Actuator + Prometheus · JWT 审计 · Spring Security Debug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E3A5F"/>
                </a:solidFill>
                <a:latin typeface="微软雅黑"/>
                <a:ea typeface="微软雅黑"/>
              </a:rPr>
              <a:t>在「前后端分离 · 持久层双栈 · 对象存储适配 · 安全防护 · 工程化规范」方面进行了完整的企业级工程实践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1568</Words>
  <Application>Microsoft Office PowerPoint</Application>
  <PresentationFormat>宽屏</PresentationFormat>
  <Paragraphs>455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 z</cp:lastModifiedBy>
  <cp:revision>3</cp:revision>
  <dcterms:created xsi:type="dcterms:W3CDTF">2013-01-27T09:14:16Z</dcterms:created>
  <dcterms:modified xsi:type="dcterms:W3CDTF">2026-06-22T13:11:39Z</dcterms:modified>
  <cp:category/>
</cp:coreProperties>
</file>